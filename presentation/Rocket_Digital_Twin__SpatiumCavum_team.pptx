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kOFCsiBG5zkFR1deJy/CyHgqh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MateuszBala/Spaceshield_Hack_2026_PTR_DLD_Digital_Twin_Mission" TargetMode="External"/><Relationship Id="rId4" Type="http://schemas.openxmlformats.org/officeDocument/2006/relationships/hyperlink" Target="https://github.com/MateuszBala/Spaceshield_Hack_2026_PTR_DLD_Digital_Twin_Missio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4297680"/>
            <a:ext cx="2011680" cy="2011680"/>
          </a:xfrm>
          <a:prstGeom prst="ellipse">
            <a:avLst/>
          </a:prstGeom>
          <a:solidFill>
            <a:srgbClr val="16233D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469880" y="507492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80" y="21945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ROCKET DIGITAL TWIN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38BDF8"/>
                </a:solidFill>
              </a:rPr>
              <a:t>Cyfrowy bliźniak rakiety wynoszącej satelitę na niską orbitę (LEO)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38404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1600"/>
              <a:buFont typeface="Calibri"/>
              <a:buNone/>
            </a:pPr>
            <a:r>
              <a:rPr i="1" lang="en-US" sz="1600" u="none" cap="none" strike="noStrike">
                <a:solidFill>
                  <a:srgbClr val="8B97B0"/>
                </a:solidFill>
              </a:rPr>
              <a:t>Zmień parametr → przelicz → zobacz wpływ na misję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8B97B0"/>
                </a:solidFill>
              </a:rPr>
              <a:t>Zespół </a:t>
            </a:r>
            <a:r>
              <a:rPr b="1" i="0" lang="en-US" sz="1500" u="none" cap="none" strike="noStrike">
                <a:solidFill>
                  <a:srgbClr val="38BDF8"/>
                </a:solidFill>
              </a:rPr>
              <a:t>SpatiumCavum</a:t>
            </a:r>
            <a:r>
              <a:rPr i="0" lang="en-US" sz="1500" u="none" cap="none" strike="noStrike">
                <a:solidFill>
                  <a:srgbClr val="E5EAF5"/>
                </a:solidFill>
              </a:rPr>
              <a:t>   ·   Mateusz Bała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22" name="Google Shape;22;p1">
            <a:hlinkClick r:id="rId3"/>
          </p:cNvPr>
          <p:cNvSpPr/>
          <p:nvPr/>
        </p:nvSpPr>
        <p:spPr>
          <a:xfrm>
            <a:off x="640080" y="54864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1100"/>
              <a:buFont typeface="Calibri"/>
              <a:buNone/>
            </a:pPr>
            <a:r>
              <a:rPr b="0" i="0" lang="en-US" sz="1100" u="sng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github.com/MateuszBala/Spaceshield_Hack_2026_PTR_DLD_Digital_Twin_Mission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Hackaton · Space Shield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438"/>
                </a:solidFill>
                <a:latin typeface="Calibri"/>
                <a:ea typeface="Calibri"/>
                <a:cs typeface="Calibri"/>
                <a:sym typeface="Calibri"/>
              </a:rPr>
              <a:t>Problem: projektowanie rakiety to gra kompromisów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3716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A"/>
              </a:buClr>
              <a:buSzPts val="1700"/>
              <a:buFont typeface="Calibri"/>
              <a:buNone/>
            </a:pPr>
            <a:r>
              <a:rPr i="0" lang="en-US" sz="1700" u="none" cap="none" strike="noStrike">
                <a:solidFill>
                  <a:srgbClr val="44506A"/>
                </a:solidFill>
              </a:rPr>
              <a:t>Każda decyzja projektowa — masa stopnia, ciąg silnika, liczba stopni — </a:t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A"/>
              </a:buClr>
              <a:buSzPts val="1700"/>
              <a:buFont typeface="Calibri"/>
              <a:buNone/>
            </a:pPr>
            <a:r>
              <a:rPr i="0" lang="en-US" sz="1700" u="none" cap="none" strike="noStrike">
                <a:solidFill>
                  <a:srgbClr val="44506A"/>
                </a:solidFill>
              </a:rPr>
              <a:t>zmienia szansę powodzenia misji. Pytanie inżyniera brzmi zawsze: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371600" y="2468880"/>
            <a:ext cx="9418320" cy="1188720"/>
          </a:xfrm>
          <a:prstGeom prst="roundRect">
            <a:avLst>
              <a:gd fmla="val 9231" name="adj"/>
            </a:avLst>
          </a:prstGeom>
          <a:solidFill>
            <a:srgbClr val="0B102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371600" y="2468880"/>
            <a:ext cx="9418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600"/>
              <a:buFont typeface="Calibri"/>
              <a:buNone/>
            </a:pPr>
            <a:r>
              <a:rPr b="1" i="1" lang="en-US" sz="2600" u="none" cap="none" strike="noStrike">
                <a:solidFill>
                  <a:srgbClr val="38BDF8"/>
                </a:solidFill>
              </a:rPr>
              <a:t>„Co się stanie, jeśli zmienię ten stopień?”</a:t>
            </a:r>
            <a:endParaRPr i="0" sz="2600" u="none" cap="none" strike="noStrike">
              <a:solidFill>
                <a:schemeClr val="dk1"/>
              </a:solidFill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40233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438"/>
                </a:solidFill>
              </a:rPr>
              <a:t>Tradycyjnie: </a:t>
            </a:r>
            <a:r>
              <a:rPr i="0" lang="en-US" sz="1600" u="none" cap="none" strike="noStrike">
                <a:solidFill>
                  <a:srgbClr val="44506A"/>
                </a:solidFill>
              </a:rPr>
              <a:t>budujesz, testujesz, tracisz czas i pieniądze na każdą iterację.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4572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34D399"/>
                </a:solidFill>
              </a:rPr>
              <a:t>Moja</a:t>
            </a:r>
            <a:r>
              <a:rPr b="1" i="0" lang="en-US" sz="1600" u="none" cap="none" strike="noStrike">
                <a:solidFill>
                  <a:srgbClr val="34D399"/>
                </a:solidFill>
              </a:rPr>
              <a:t> odpowiedź: </a:t>
            </a:r>
            <a:r>
              <a:rPr i="0" lang="en-US" sz="1600" u="none" cap="none" strike="noStrike">
                <a:solidFill>
                  <a:srgbClr val="44506A"/>
                </a:solidFill>
              </a:rPr>
              <a:t>symuluj misję cyfrowo, zmieniaj parametry na żywo, widz skutek natychmiast.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Rocket Digital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/>
          <p:nvPr/>
        </p:nvSpPr>
        <p:spPr>
          <a:xfrm>
            <a:off x="548640" y="45720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</a:rPr>
              <a:t>Sedno: pętla Digital Twina</a:t>
            </a:r>
            <a:endParaRPr i="0" sz="3200" u="none" cap="none" strike="noStrike">
              <a:solidFill>
                <a:schemeClr val="dk1"/>
              </a:solidFill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To, co odróżnia projekt od zwykłego kalkulatora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731520" y="2743200"/>
            <a:ext cx="3108960" cy="1371600"/>
          </a:xfrm>
          <a:prstGeom prst="roundRect">
            <a:avLst>
              <a:gd fmla="val 6667" name="adj"/>
            </a:avLst>
          </a:prstGeom>
          <a:solidFill>
            <a:srgbClr val="1A2438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731520" y="29260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PARAMETRY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31520" y="342900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5EAF5"/>
                </a:solidFill>
                <a:latin typeface="Calibri"/>
                <a:ea typeface="Calibri"/>
                <a:cs typeface="Calibri"/>
                <a:sym typeface="Calibri"/>
              </a:rPr>
              <a:t>masa, ciąg, Isp,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5EAF5"/>
                </a:solidFill>
                <a:latin typeface="Calibri"/>
                <a:ea typeface="Calibri"/>
                <a:cs typeface="Calibri"/>
                <a:sym typeface="Calibri"/>
              </a:rPr>
              <a:t>liczba stopni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26280" y="2743200"/>
            <a:ext cx="3108960" cy="1371600"/>
          </a:xfrm>
          <a:prstGeom prst="roundRect">
            <a:avLst>
              <a:gd fmla="val 6667" name="adj"/>
            </a:avLst>
          </a:prstGeom>
          <a:solidFill>
            <a:srgbClr val="1A2438"/>
          </a:solidFill>
          <a:ln cap="flat" cmpd="sng" w="254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526280" y="29260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SYMULACJA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26280" y="342900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5EAF5"/>
                </a:solidFill>
                <a:latin typeface="Calibri"/>
                <a:ea typeface="Calibri"/>
                <a:cs typeface="Calibri"/>
                <a:sym typeface="Calibri"/>
              </a:rPr>
              <a:t>pełna fizyka misji: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5EAF5"/>
                </a:solidFill>
                <a:latin typeface="Calibri"/>
                <a:ea typeface="Calibri"/>
                <a:cs typeface="Calibri"/>
                <a:sym typeface="Calibri"/>
              </a:rPr>
              <a:t>3 fazy, separacje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321040" y="2743200"/>
            <a:ext cx="3108960" cy="1371600"/>
          </a:xfrm>
          <a:prstGeom prst="roundRect">
            <a:avLst>
              <a:gd fmla="val 6667" name="adj"/>
            </a:avLst>
          </a:prstGeom>
          <a:solidFill>
            <a:srgbClr val="1A2438"/>
          </a:solidFill>
          <a:ln cap="flat" cmpd="sng" w="254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8321040" y="29260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WERDYKT + 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321040" y="342900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5EAF5"/>
                </a:solidFill>
                <a:latin typeface="Calibri"/>
                <a:ea typeface="Calibri"/>
                <a:cs typeface="Calibri"/>
                <a:sym typeface="Calibri"/>
              </a:rPr>
              <a:t>orbita TAK / NIE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5EAF5"/>
                </a:solidFill>
                <a:latin typeface="Calibri"/>
                <a:ea typeface="Calibri"/>
                <a:cs typeface="Calibri"/>
                <a:sym typeface="Calibri"/>
              </a:rPr>
              <a:t>+ trajektoria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3886200" y="3429000"/>
            <a:ext cx="548640" cy="0"/>
          </a:xfrm>
          <a:prstGeom prst="straightConnector1">
            <a:avLst/>
          </a:prstGeom>
          <a:noFill/>
          <a:ln cap="flat" cmpd="sng" w="31750">
            <a:solidFill>
              <a:srgbClr val="8B97B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" name="Google Shape;54;p3"/>
          <p:cNvCxnSpPr/>
          <p:nvPr/>
        </p:nvCxnSpPr>
        <p:spPr>
          <a:xfrm>
            <a:off x="7680960" y="3429000"/>
            <a:ext cx="548640" cy="0"/>
          </a:xfrm>
          <a:prstGeom prst="straightConnector1">
            <a:avLst/>
          </a:prstGeom>
          <a:noFill/>
          <a:ln cap="flat" cmpd="sng" w="31750">
            <a:solidFill>
              <a:srgbClr val="8B97B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" name="Google Shape;55;p3"/>
          <p:cNvSpPr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↺ eksperymentuj dowolnie — bez budowania prawdziwej rakiety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Rocket Digital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</a:rPr>
              <a:t>Złoty scenariusz: rakieta osiąga orbitę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pic>
        <p:nvPicPr>
          <p:cNvPr id="64" name="Google Shape;64;p4" title="Screenshot From 2026-05-24 10-09-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650" y="1110770"/>
            <a:ext cx="10758902" cy="556864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Rocket Digital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438"/>
                </a:solidFill>
              </a:rPr>
              <a:t>Sekwencja misji — pełen profil lotu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A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44506A"/>
                </a:solidFill>
              </a:rPr>
              <a:t>Symulujemy całą misję ze zdarzeniami, nie tylko punkt końcowy — zgodnie z wymaganą sekwencją separacji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3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438"/>
                </a:solidFill>
                <a:latin typeface="Calibri"/>
                <a:ea typeface="Calibri"/>
                <a:cs typeface="Calibri"/>
                <a:sym typeface="Calibri"/>
              </a:rPr>
              <a:t>LIFTOFF → MAX-Q → MECO → STAGE SEP → SECO → APOGEE → ORBITAL INSERTION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06A"/>
              </a:buClr>
              <a:buSzPts val="1300"/>
              <a:buFont typeface="Calibri"/>
              <a:buNone/>
            </a:pPr>
            <a:r>
              <a:rPr i="1" lang="en-US" sz="1300" u="none" cap="none" strike="noStrike">
                <a:solidFill>
                  <a:srgbClr val="44506A"/>
                </a:solidFill>
              </a:rPr>
              <a:t>Każde zdarzenie wykrywane jako zero funkcji zdarzeń w solverze — położenie nie zależy od kroku całkowania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Rocket Digital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5" title="Screenshot From 2026-05-24 10-19-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025" y="1767845"/>
            <a:ext cx="11004061" cy="234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</a:rPr>
              <a:t>Telemetria lotu — pełne dane z symulacji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Piki g-force zgrane ze separacjami stopni — dowód spójności telemetrii i sekwencji zdarzeń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Rocket Digital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6" title="Screenshot From 2026-05-24 10-20-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100" y="1051550"/>
            <a:ext cx="7921125" cy="37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6" title="Screenshot From 2026-05-24 10-21-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100" y="4593750"/>
            <a:ext cx="7607501" cy="198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6" title="Screenshot From 2026-05-24 10-21-2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00625" y="2264275"/>
            <a:ext cx="9157499" cy="224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438"/>
                </a:solidFill>
                <a:latin typeface="Calibri"/>
                <a:ea typeface="Calibri"/>
                <a:cs typeface="Calibri"/>
                <a:sym typeface="Calibri"/>
              </a:rPr>
              <a:t>Co pod spodem: prawdziwa mechanika orbitalna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48640" y="1463040"/>
            <a:ext cx="82296" cy="960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777240" y="146304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438"/>
                </a:solidFill>
                <a:latin typeface="Calibri"/>
                <a:ea typeface="Calibri"/>
                <a:cs typeface="Calibri"/>
                <a:sym typeface="Calibri"/>
              </a:rPr>
              <a:t>Werdykt z elementów keplerowskich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777240" y="184708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A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44506A"/>
                </a:solidFill>
              </a:rPr>
              <a:t>Orbita liczona z energii (ε), mimośrodu (e) i perygeum — NIE z chwilowej wysokości. Osiągnięcie 400 km nie znaczy orbity.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48640" y="2606040"/>
            <a:ext cx="82296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777240" y="260604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438"/>
                </a:solidFill>
                <a:latin typeface="Calibri"/>
                <a:ea typeface="Calibri"/>
                <a:cs typeface="Calibri"/>
                <a:sym typeface="Calibri"/>
              </a:rPr>
              <a:t>Trzy fazy lotu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777240" y="299008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A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44506A"/>
                </a:solidFill>
              </a:rPr>
              <a:t>Wznoszenie z oporem ρ(h) → wstawienie → orbita. Każda faza to inny reżim numeryczny.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48640" y="3749040"/>
            <a:ext cx="82296" cy="960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777240" y="374904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438"/>
                </a:solidFill>
                <a:latin typeface="Calibri"/>
                <a:ea typeface="Calibri"/>
                <a:cs typeface="Calibri"/>
                <a:sym typeface="Calibri"/>
              </a:rPr>
              <a:t>Gravity turn + manewr Hohmanna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777240" y="413308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A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44506A"/>
                </a:solidFill>
              </a:rPr>
              <a:t>Coast balistyczny do apogeum + circularyzacja na górnym stopniu — jak w prawdziwych misjach.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48640" y="4892040"/>
            <a:ext cx="82296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777240" y="489204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438"/>
                </a:solidFill>
                <a:latin typeface="Calibri"/>
                <a:ea typeface="Calibri"/>
                <a:cs typeface="Calibri"/>
                <a:sym typeface="Calibri"/>
              </a:rPr>
              <a:t>Oparte na źródłach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777240" y="527608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6A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44506A"/>
                </a:solidFill>
              </a:rPr>
              <a:t>MIT 16.346 Astrodynamics (wektor mimośrodu, całka energii) · </a:t>
            </a:r>
            <a:r>
              <a:rPr lang="en-US" sz="1300">
                <a:solidFill>
                  <a:srgbClr val="44506A"/>
                </a:solidFill>
              </a:rPr>
              <a:t>Space Mission Analysis and Design</a:t>
            </a:r>
            <a:r>
              <a:rPr i="0" lang="en-US" sz="1300" u="none" cap="none" strike="noStrike">
                <a:solidFill>
                  <a:srgbClr val="44506A"/>
                </a:solidFill>
              </a:rPr>
              <a:t> (stałe, progi orbitalne).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Rocket Digital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Architektura — rozdzielone warstwy, wspólny kontrakt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731520" y="2011680"/>
            <a:ext cx="3017520" cy="1280160"/>
          </a:xfrm>
          <a:prstGeom prst="roundRect">
            <a:avLst>
              <a:gd fmla="val 7143" name="adj"/>
            </a:avLst>
          </a:prstGeom>
          <a:solidFill>
            <a:srgbClr val="1A2438"/>
          </a:solidFill>
          <a:ln cap="flat" cmpd="sng" w="254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731520" y="21945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731520" y="2670048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AF5"/>
                </a:solidFill>
                <a:latin typeface="Calibri"/>
                <a:ea typeface="Calibri"/>
                <a:cs typeface="Calibri"/>
                <a:sym typeface="Calibri"/>
              </a:rPr>
              <a:t>React + Vite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AF5"/>
                </a:solidFill>
                <a:latin typeface="Calibri"/>
                <a:ea typeface="Calibri"/>
                <a:cs typeface="Calibri"/>
                <a:sym typeface="Calibri"/>
              </a:rPr>
              <a:t>wizualizacja, interfejs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572000" y="2011680"/>
            <a:ext cx="3017520" cy="1280160"/>
          </a:xfrm>
          <a:prstGeom prst="roundRect">
            <a:avLst>
              <a:gd fmla="val 7143" name="adj"/>
            </a:avLst>
          </a:prstGeom>
          <a:solidFill>
            <a:srgbClr val="1A2438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4572000" y="2670048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AF5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AF5"/>
                </a:solidFill>
                <a:latin typeface="Calibri"/>
                <a:ea typeface="Calibri"/>
                <a:cs typeface="Calibri"/>
                <a:sym typeface="Calibri"/>
              </a:rPr>
              <a:t>cienka warstwa HTTP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8412480" y="2011680"/>
            <a:ext cx="3017520" cy="1280160"/>
          </a:xfrm>
          <a:prstGeom prst="roundRect">
            <a:avLst>
              <a:gd fmla="val 7143" name="adj"/>
            </a:avLst>
          </a:prstGeom>
          <a:solidFill>
            <a:srgbClr val="1A2438"/>
          </a:solidFill>
          <a:ln cap="flat" cmpd="sng" w="254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8412480" y="21945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SILNIK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8412480" y="2670048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AF5"/>
                </a:solidFill>
                <a:latin typeface="Calibri"/>
                <a:ea typeface="Calibri"/>
                <a:cs typeface="Calibri"/>
                <a:sym typeface="Calibri"/>
              </a:rPr>
              <a:t>NumPy/SciPy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AF5"/>
                </a:solidFill>
                <a:latin typeface="Calibri"/>
                <a:ea typeface="Calibri"/>
                <a:cs typeface="Calibri"/>
                <a:sym typeface="Calibri"/>
              </a:rPr>
              <a:t>czysta fizyka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3017520" y="18745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HTTP / 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8"/>
          <p:cNvCxnSpPr/>
          <p:nvPr/>
        </p:nvCxnSpPr>
        <p:spPr>
          <a:xfrm>
            <a:off x="3749040" y="2651760"/>
            <a:ext cx="822960" cy="0"/>
          </a:xfrm>
          <a:prstGeom prst="straightConnector1">
            <a:avLst/>
          </a:prstGeom>
          <a:noFill/>
          <a:ln cap="flat" cmpd="sng" w="25400">
            <a:solidFill>
              <a:srgbClr val="8B97B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" name="Google Shape;128;p8"/>
          <p:cNvSpPr/>
          <p:nvPr/>
        </p:nvSpPr>
        <p:spPr>
          <a:xfrm>
            <a:off x="6858000" y="18745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8"/>
          <p:cNvCxnSpPr/>
          <p:nvPr/>
        </p:nvCxnSpPr>
        <p:spPr>
          <a:xfrm>
            <a:off x="7589520" y="2651760"/>
            <a:ext cx="822960" cy="0"/>
          </a:xfrm>
          <a:prstGeom prst="straightConnector1">
            <a:avLst/>
          </a:prstGeom>
          <a:noFill/>
          <a:ln cap="flat" cmpd="sng" w="25400">
            <a:solidFill>
              <a:srgbClr val="8B97B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0" name="Google Shape;130;p8"/>
          <p:cNvSpPr/>
          <p:nvPr/>
        </p:nvSpPr>
        <p:spPr>
          <a:xfrm>
            <a:off x="731520" y="3749040"/>
            <a:ext cx="10698480" cy="822960"/>
          </a:xfrm>
          <a:prstGeom prst="roundRect">
            <a:avLst>
              <a:gd fmla="val 8889" name="adj"/>
            </a:avLst>
          </a:prstGeom>
          <a:solidFill>
            <a:srgbClr val="16233D"/>
          </a:solidFill>
          <a:ln cap="flat" cmpd="sng" w="19050">
            <a:solidFill>
              <a:srgbClr val="8B9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731520" y="374904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</a:rPr>
              <a:t>KONTRAKT DANYCH  </a:t>
            </a:r>
            <a:r>
              <a:rPr i="0" lang="en-US" sz="1400" u="none" cap="none" strike="noStrike">
                <a:solidFill>
                  <a:srgbClr val="8B97B0"/>
                </a:solidFill>
              </a:rPr>
              <a:t>(schematy Pydantic — jedno źródło prawdy o kształcie danych)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Calibri"/>
              <a:buNone/>
            </a:pPr>
            <a:r>
              <a:rPr i="1" lang="en-US" sz="1400" u="none" cap="none" strike="noStrike">
                <a:solidFill>
                  <a:srgbClr val="38BDF8"/>
                </a:solidFill>
              </a:rPr>
              <a:t>Każda warstwa — jedna odpowiedzialność i wyraźna granica. Pozwoliło to budować wszystkie trzy RÓWNOLEGLE od pierwszego dnia.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Rocket Digital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Osiągnięta orbita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1300"/>
              <a:buFont typeface="Calibri"/>
              <a:buNone/>
            </a:pPr>
            <a:r>
              <a:rPr i="1" lang="en-US" sz="1300" u="none" cap="none" strike="noStrike">
                <a:solidFill>
                  <a:srgbClr val="8B97B0"/>
                </a:solidFill>
              </a:rPr>
              <a:t>Tor lotu z telemetrii + pełna orbita z elementów keplerowskich — satelita krąży na stabilnej orbicie.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Rocket Digital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975" y="1203960"/>
            <a:ext cx="4879634" cy="490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9" title="Screenshot From 2026-05-24 10-31-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1009" y="1203960"/>
            <a:ext cx="6398591" cy="4749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</a:rPr>
              <a:t>Co osiągn</a:t>
            </a:r>
            <a:r>
              <a:rPr b="1" lang="en-US" sz="3400">
                <a:solidFill>
                  <a:srgbClr val="FFFFFF"/>
                </a:solidFill>
              </a:rPr>
              <a:t>ąłem</a:t>
            </a:r>
            <a:endParaRPr i="0" sz="3400" u="none" cap="none" strike="noStrike">
              <a:solidFill>
                <a:schemeClr val="dk1"/>
              </a:solidFill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731520" y="1783080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731520" y="17556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1188720" y="169164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E5EAF5"/>
                </a:solidFill>
              </a:rPr>
              <a:t>Działający cyfrowy bliźniak na PRAWDZIWEJ fizyce — pętla zmiana→symulacja→werdykt end-to-end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731520" y="2468880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731520" y="24414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188720" y="237744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E5EAF5"/>
                </a:solidFill>
              </a:rPr>
              <a:t>Pełna mechanika orbitalna: werdykt keplerowski, gravity turn, manewr Hohmanna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731520" y="3154680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731520" y="31272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1188720" y="306324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E5EAF5"/>
                </a:solidFill>
              </a:rPr>
              <a:t>Sekwencja misji, telemetria, wizualizacja trajektorii i orbity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731520" y="3840480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731520" y="38130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1188720" y="374904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5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E5EAF5"/>
                </a:solidFill>
              </a:rPr>
              <a:t>Architektura rozdzielona na warstwy — gotowa na rozbudowę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Calibri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</a:rPr>
              <a:t>Co dalej: </a:t>
            </a:r>
            <a:r>
              <a:rPr i="0" lang="en-US" sz="1300" u="none" cap="none" strike="noStrike">
                <a:solidFill>
                  <a:srgbClr val="8B97B0"/>
                </a:solidFill>
              </a:rPr>
              <a:t>optymalizacja AI masy startowej · wizualizacja 3D · porównanie scenariuszy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</a:rPr>
              <a:t>Dziękuje</a:t>
            </a:r>
            <a:r>
              <a:rPr b="1" lang="en-US" sz="2400">
                <a:solidFill>
                  <a:srgbClr val="FFFFFF"/>
                </a:solidFill>
              </a:rPr>
              <a:t>.</a:t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Rocket Digital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B0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2026-05-24T07:45:50Z</dcterms:created>
  <dc:creator>Rocket Digital Twin Team</dc:creator>
</cp:coreProperties>
</file>